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e084e525eb4544" /><Relationship Type="http://schemas.openxmlformats.org/officeDocument/2006/relationships/extended-properties" Target="/docProps/app.xml" Id="Rdaa5d5d2d5b4456d" /><Relationship Type="http://schemas.openxmlformats.org/officeDocument/2006/relationships/officeDocument" Target="/ppt/presentation.xml" Id="R4aaa07a89c1e4107" /></Relationships>
</file>

<file path=ppt/presentation.xml><?xml version="1.0" encoding="utf-8"?>
<p:presentation xmlns:p="http://schemas.openxmlformats.org/presentationml/2006/main">
  <p:sldMasterIdLst>
    <p:sldMasterId xmlns:r="http://schemas.openxmlformats.org/officeDocument/2006/relationships" id="2147483648" r:id="Rb7fa184488d44840"/>
  </p:sldMasterIdLst>
  <p:notesMasterIdLst>
    <p:notesMasterId xmlns:r="http://schemas.openxmlformats.org/officeDocument/2006/relationships" r:id="R8de9c23ea1eb45b0"/>
  </p:notesMasterIdLst>
  <p:sldIdLst>
    <p:sldId xmlns:r="http://schemas.openxmlformats.org/officeDocument/2006/relationships" id="256" r:id="R117857219dcb4d87"/>
    <p:sldId xmlns:r="http://schemas.openxmlformats.org/officeDocument/2006/relationships" id="257" r:id="R8ef555f588c34b20"/>
    <p:sldId xmlns:r="http://schemas.openxmlformats.org/officeDocument/2006/relationships" id="258" r:id="R0eaa46404ea34b10"/>
    <p:sldId xmlns:r="http://schemas.openxmlformats.org/officeDocument/2006/relationships" id="259" r:id="R0ee6c9be1dcc4326"/>
    <p:sldId xmlns:r="http://schemas.openxmlformats.org/officeDocument/2006/relationships" id="260" r:id="R8ece726cf7f048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9a63bae214537" /><Relationship Type="http://schemas.openxmlformats.org/officeDocument/2006/relationships/slideMaster" Target="/ppt/slideMasters/slideMaster1.xml" Id="Rb7fa184488d44840" /><Relationship Type="http://schemas.openxmlformats.org/officeDocument/2006/relationships/notesMaster" Target="/ppt/notesMasters/notesMaster1.xml" Id="R8de9c23ea1eb45b0" /><Relationship Type="http://schemas.openxmlformats.org/officeDocument/2006/relationships/presProps" Target="/ppt/presProps.xml" Id="Rd8b6c228cd684529" /><Relationship Type="http://schemas.openxmlformats.org/officeDocument/2006/relationships/tableStyles" Target="/ppt/tableStyles.xml" Id="Rd4ab5ecc40a74fc6" /><Relationship Type="http://schemas.openxmlformats.org/officeDocument/2006/relationships/slide" Target="/ppt/slides/slide1.xml" Id="R117857219dcb4d87" /><Relationship Type="http://schemas.openxmlformats.org/officeDocument/2006/relationships/slide" Target="/ppt/slides/slide2.xml" Id="R8ef555f588c34b20" /><Relationship Type="http://schemas.openxmlformats.org/officeDocument/2006/relationships/slide" Target="/ppt/slides/slide3.xml" Id="R0eaa46404ea34b10" /><Relationship Type="http://schemas.openxmlformats.org/officeDocument/2006/relationships/slide" Target="/ppt/slides/slide4.xml" Id="R0ee6c9be1dcc4326" /><Relationship Type="http://schemas.openxmlformats.org/officeDocument/2006/relationships/slide" Target="/ppt/slides/slide5.xml" Id="R8ece726cf7f048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906be175c343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49dd2c110745db" /><Relationship Type="http://schemas.openxmlformats.org/officeDocument/2006/relationships/notesMaster" Target="/ppt/notesMasters/notesMaster1.xml" Id="Re6016304c69e4f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809bcd55de4e33" /><Relationship Type="http://schemas.openxmlformats.org/officeDocument/2006/relationships/notesMaster" Target="/ppt/notesMasters/notesMaster1.xml" Id="Rd80ba492e13d4b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badaf117144423" /><Relationship Type="http://schemas.openxmlformats.org/officeDocument/2006/relationships/notesMaster" Target="/ppt/notesMasters/notesMaster1.xml" Id="R717952d9c3cd43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e15b6e82af4937" /><Relationship Type="http://schemas.openxmlformats.org/officeDocument/2006/relationships/notesMaster" Target="/ppt/notesMasters/notesMaster1.xml" Id="R8a71dbcb8a4644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e52c31234f4bbb" /><Relationship Type="http://schemas.openxmlformats.org/officeDocument/2006/relationships/notesMaster" Target="/ppt/notesMasters/notesMaster1.xml" Id="Ra652c3feff3d4f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scope: https://www.sih.gov.in/sih2026PS . This implementation predicts malicious-flow presence and graph-summary state. It does not yet establish pre-compromise attack progression.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garuda_v3/data.py, model.py and pcap.py. GraphSAGE reference: https://pytorch-geometric.readthedocs.io/en/latest/generated/torch_geometric.nn.conv.SAGEConv.html . Supplied CSVs omit host endpoints. Packet-derived input requires retraining before forecast serving.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garuda_v3/artifacts/run/metrics.json and seed_summary.json. Three-seed GNN mean F1 96.2%, population SD 1.25 percentage points. Overlapping examples and only two captures limit generalization. GNN state MSE 0.05371 vs persistence 0.01274, so the current GNN decoder does not beat persistence in state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garuda_v3 tests and policy-guard.js. Dry-run is the default. No autonomous action follows model risk. Tests verify selected-IP blocking and revocation in an isolated local environment. Single-instance reference server still needs production TLS gateway and independent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garuda_v3/V3_README.md and internal metrics. Supplied labels are Bot/Benign, without attack-stage or compromise timing annotations. No claim of market readiness or guaranteed competition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7ed8a964924a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035e7f25174acd" /><Relationship Type="http://schemas.openxmlformats.org/officeDocument/2006/relationships/slideLayout" Target="/ppt/slideLayouts/slideLayout1.xml" Id="R7dcb48c9734b4b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cb48c9734b4b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caf9c6375b4afa" /><Relationship Type="http://schemas.openxmlformats.org/officeDocument/2006/relationships/notesSlide" Target="/ppt/notesSlides/notesSlide1.xml" Id="R4b075e85332a48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ca399d4ec14e05" /><Relationship Type="http://schemas.openxmlformats.org/officeDocument/2006/relationships/notesSlide" Target="/ppt/notesSlides/notesSlide2.xml" Id="Rd22853f1c6f24d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cee0bddada4b6a" /><Relationship Type="http://schemas.openxmlformats.org/officeDocument/2006/relationships/notesSlide" Target="/ppt/notesSlides/notesSlide3.xml" Id="R77ff2dd448ad4c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e9675f86b54fb4" /><Relationship Type="http://schemas.openxmlformats.org/officeDocument/2006/relationships/notesSlide" Target="/ppt/notesSlides/notesSlide4.xml" Id="R7833fbb8550246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f7f0a7e1c74af6" /><Relationship Type="http://schemas.openxmlformats.org/officeDocument/2006/relationships/notesSlide" Target="/ppt/notesSlides/notesSlide5.xml" Id="Rb53321690dec4f5b" /></Relationships>
</file>

<file path=ppt/slides/slide1.xml><?xml version="1.0" encoding="utf-8"?>
<p:sld xmlns:p="http://schemas.openxmlformats.org/presentationml/2006/main">
  <p:cSld>
    <p:bg>
      <p:bgPr>
        <a:solidFill xmlns:a="http://schemas.openxmlformats.org/drawingml/2006/main">
          <a:srgbClr val="0A111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F2AC3F-1071-48CE-AB3F-CFEA99E40D51}"/>
              </a:ext>
            </a:extLst>
          </p:cNvPr>
          <p:cNvSpPr>
            <a:spLocks xmlns:a="http://schemas.openxmlformats.org/drawingml/2006/main" noGrp="1"/>
          </p:cNvSpPr>
          <p:nvPr/>
        </p:nvSpPr>
        <p:spPr>
          <a:xfrm xmlns:a="http://schemas.openxmlformats.org/drawingml/2006/main">
            <a:off x="685800" y="4953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EFF4"/>
                </a:solidFill>
                <a:latin typeface="Bitstream Charter"/>
                <a:ea typeface="Bitstream Charter"/>
                <a:cs typeface="Bitstream Charter"/>
              </a:defRPr>
            </a:pPr>
            <a:r>
              <a:rPr sz="3300" b="1">
                <a:solidFill>
                  <a:srgbClr val="E5EFF4"/>
                </a:solidFill>
                <a:latin typeface="Bitstream Charter"/>
                <a:ea typeface="Bitstream Charter"/>
                <a:cs typeface="Bitstream Charter"/>
              </a:rPr>
              <a:t>Krishna Defence</a:t>
            </a:r>
          </a:p>
        </p:txBody>
      </p:sp>
      <p:sp>
        <p:nvSpPr>
          <p:cNvPr id="2" name="">
            <a:extLst xmlns:a="http://schemas.openxmlformats.org/drawingml/2006/main">
              <a:ext uri="{FF2B5EF4-FFF2-40B4-BE49-F238E27FC236}">
                <a16:creationId xmlns:a16="http://schemas.microsoft.com/office/drawing/2014/main" id="{0F6C1D0E-BA4C-41BB-B9EF-F588C27C6DAB}"/>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6B8C4"/>
                </a:solidFill>
                <a:latin typeface="Bitstream Charter"/>
                <a:ea typeface="Bitstream Charter"/>
                <a:cs typeface="Bitstream Charter"/>
              </a:defRPr>
            </a:pPr>
            <a:r>
              <a:rPr sz="1275" b="0">
                <a:solidFill>
                  <a:srgbClr val="A6B8C4"/>
                </a:solidFill>
                <a:latin typeface="Bitstream Charter"/>
                <a:ea typeface="Bitstream Charter"/>
                <a:cs typeface="Bitstream Charter"/>
              </a:rPr>
              <a:t>Krishna Defence  /  SIH26153  /  1</a:t>
            </a:r>
          </a:p>
        </p:txBody>
      </p:sp>
      <p:sp>
        <p:nvSpPr>
          <p:cNvPr id="3" name="">
            <a:extLst xmlns:a="http://schemas.openxmlformats.org/drawingml/2006/main">
              <a:ext uri="{FF2B5EF4-FFF2-40B4-BE49-F238E27FC236}">
                <a16:creationId xmlns:a16="http://schemas.microsoft.com/office/drawing/2014/main" id="{4B5EDD54-9919-4752-986E-A9F7A501EB68}"/>
              </a:ext>
            </a:extLst>
          </p:cNvPr>
          <p:cNvSpPr>
            <a:spLocks xmlns:a="http://schemas.openxmlformats.org/drawingml/2006/main" noGrp="1"/>
          </p:cNvSpPr>
          <p:nvPr/>
        </p:nvSpPr>
        <p:spPr>
          <a:xfrm xmlns:a="http://schemas.openxmlformats.org/drawingml/2006/main">
            <a:off x="685800" y="1762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63DEC1"/>
                </a:solidFill>
                <a:latin typeface="Bitstream Charter"/>
                <a:ea typeface="Bitstream Charter"/>
                <a:cs typeface="Bitstream Charter"/>
              </a:defRPr>
            </a:pPr>
            <a:r>
              <a:rPr sz="3450" b="1">
                <a:solidFill>
                  <a:srgbClr val="63DEC1"/>
                </a:solidFill>
                <a:latin typeface="Bitstream Charter"/>
                <a:ea typeface="Bitstream Charter"/>
                <a:cs typeface="Bitstream Charter"/>
              </a:rPr>
              <a:t>Graph-based network traffic forecasting</a:t>
            </a:r>
          </a:p>
        </p:txBody>
      </p:sp>
      <p:sp>
        <p:nvSpPr>
          <p:cNvPr id="4" name="">
            <a:extLst xmlns:a="http://schemas.openxmlformats.org/drawingml/2006/main">
              <a:ext uri="{FF2B5EF4-FFF2-40B4-BE49-F238E27FC236}">
                <a16:creationId xmlns:a16="http://schemas.microsoft.com/office/drawing/2014/main" id="{A111825A-8889-422C-9F36-B0BF541098C4}"/>
              </a:ext>
            </a:extLst>
          </p:cNvPr>
          <p:cNvSpPr>
            <a:spLocks xmlns:a="http://schemas.openxmlformats.org/drawingml/2006/main" noGrp="1"/>
          </p:cNvSpPr>
          <p:nvPr/>
        </p:nvSpPr>
        <p:spPr>
          <a:xfrm xmlns:a="http://schemas.openxmlformats.org/drawingml/2006/main">
            <a:off x="685800" y="295275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5EFF4"/>
                </a:solidFill>
                <a:latin typeface="Bitstream Charter"/>
                <a:ea typeface="Bitstream Charter"/>
                <a:cs typeface="Bitstream Charter"/>
              </a:defRPr>
            </a:pPr>
            <a:r>
              <a:rPr sz="2250" b="0">
                <a:solidFill>
                  <a:srgbClr val="E5EFF4"/>
                </a:solidFill>
                <a:latin typeface="Bitstream Charter"/>
                <a:ea typeface="Bitstream Charter"/>
                <a:cs typeface="Bitstream Charter"/>
              </a:rPr>
              <a:t>Garuda v3 learns from observed traffic graphs and predicts</a:t>
            </a:r>
          </a:p>
          <a:p xmlns:a="http://schemas.openxmlformats.org/drawingml/2006/main">
            <a:pPr>
              <a:defRPr sz="2250" b="0">
                <a:solidFill>
                  <a:srgbClr val="E5EFF4"/>
                </a:solidFill>
                <a:latin typeface="Bitstream Charter"/>
                <a:ea typeface="Bitstream Charter"/>
                <a:cs typeface="Bitstream Charter"/>
              </a:defRPr>
            </a:pPr>
            <a:r>
              <a:rPr sz="2250" b="0">
                <a:solidFill>
                  <a:srgbClr val="E5EFF4"/>
                </a:solidFill>
                <a:latin typeface="Bitstream Charter"/>
                <a:ea typeface="Bitstream Charter"/>
                <a:cs typeface="Bitstream Charter"/>
              </a:rPr>
              <a:t>the state of the next four 10-second windows.</a:t>
            </a:r>
          </a:p>
        </p:txBody>
      </p:sp>
      <p:sp>
        <p:nvSpPr>
          <p:cNvPr id="5" name="">
            <a:extLst xmlns:a="http://schemas.openxmlformats.org/drawingml/2006/main">
              <a:ext uri="{FF2B5EF4-FFF2-40B4-BE49-F238E27FC236}">
                <a16:creationId xmlns:a16="http://schemas.microsoft.com/office/drawing/2014/main" id="{ABA6CFE2-1EB1-4213-82BA-0F5A6D540D37}"/>
              </a:ext>
            </a:extLst>
          </p:cNvPr>
          <p:cNvSpPr>
            <a:spLocks xmlns:a="http://schemas.openxmlformats.org/drawingml/2006/main" noGrp="1"/>
          </p:cNvSpPr>
          <p:nvPr/>
        </p:nvSpPr>
        <p:spPr>
          <a:xfrm xmlns:a="http://schemas.openxmlformats.org/drawingml/2006/main">
            <a:off x="685800" y="46291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6B8C4"/>
                </a:solidFill>
                <a:latin typeface="Bitstream Charter"/>
                <a:ea typeface="Bitstream Charter"/>
                <a:cs typeface="Bitstream Charter"/>
              </a:defRPr>
            </a:pPr>
            <a:r>
              <a:rPr sz="1950" b="0">
                <a:solidFill>
                  <a:srgbClr val="A6B8C4"/>
                </a:solidFill>
                <a:latin typeface="Bitstream Charter"/>
                <a:ea typeface="Bitstream Charter"/>
                <a:cs typeface="Bitstream Charter"/>
              </a:rPr>
              <a:t>Team The Predators</a:t>
            </a:r>
          </a:p>
        </p:txBody>
      </p:sp>
      <p:sp>
        <p:nvSpPr>
          <p:cNvPr id="6" name="">
            <a:extLst xmlns:a="http://schemas.openxmlformats.org/drawingml/2006/main">
              <a:ext uri="{FF2B5EF4-FFF2-40B4-BE49-F238E27FC236}">
                <a16:creationId xmlns:a16="http://schemas.microsoft.com/office/drawing/2014/main" id="{309D6D74-0BE8-424B-8C9D-7023A23904C7}"/>
              </a:ext>
            </a:extLst>
          </p:cNvPr>
          <p:cNvSpPr>
            <a:spLocks xmlns:a="http://schemas.openxmlformats.org/drawingml/2006/main" noGrp="1"/>
          </p:cNvSpPr>
          <p:nvPr/>
        </p:nvSpPr>
        <p:spPr>
          <a:xfrm xmlns:a="http://schemas.openxmlformats.org/drawingml/2006/main">
            <a:off x="685800" y="5238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1C171"/>
                </a:solidFill>
                <a:latin typeface="Bitstream Charter"/>
                <a:ea typeface="Bitstream Charter"/>
                <a:cs typeface="Bitstream Charter"/>
              </a:defRPr>
            </a:pPr>
            <a:r>
              <a:rPr sz="1800" b="0">
                <a:solidFill>
                  <a:srgbClr val="F1C171"/>
                </a:solidFill>
                <a:latin typeface="Bitstream Charter"/>
                <a:ea typeface="Bitstream Charter"/>
                <a:cs typeface="Bitstream Charter"/>
              </a:rPr>
              <a:t>Research prototype with reproducible internal evaluation</a:t>
            </a:r>
          </a:p>
        </p:txBody>
      </p:sp>
    </p:spTree>
    <p:extLst>
      <p:ext uri="{BB962C8B-B14F-4D97-AF65-F5344CB8AC3E}">
        <p14:creationId xmlns:p14="http://schemas.microsoft.com/office/powerpoint/2010/main" val="787111304"/>
      </p:ext>
    </p:extLst>
  </p:cSld>
</p:sld>
</file>

<file path=ppt/slides/slide2.xml><?xml version="1.0" encoding="utf-8"?>
<p:sld xmlns:p="http://schemas.openxmlformats.org/presentationml/2006/main">
  <p:cSld>
    <p:bg>
      <p:bgPr>
        <a:solidFill xmlns:a="http://schemas.openxmlformats.org/drawingml/2006/main">
          <a:srgbClr val="0A111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CF10CD-41D5-48D0-8900-AC3225DEB807}"/>
              </a:ext>
            </a:extLst>
          </p:cNvPr>
          <p:cNvSpPr>
            <a:spLocks xmlns:a="http://schemas.openxmlformats.org/drawingml/2006/main" noGrp="1"/>
          </p:cNvSpPr>
          <p:nvPr/>
        </p:nvSpPr>
        <p:spPr>
          <a:xfrm xmlns:a="http://schemas.openxmlformats.org/drawingml/2006/main">
            <a:off x="685800" y="4953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EFF4"/>
                </a:solidFill>
                <a:latin typeface="Bitstream Charter"/>
                <a:ea typeface="Bitstream Charter"/>
                <a:cs typeface="Bitstream Charter"/>
              </a:defRPr>
            </a:pPr>
            <a:r>
              <a:rPr sz="3300" b="1">
                <a:solidFill>
                  <a:srgbClr val="E5EFF4"/>
                </a:solidFill>
                <a:latin typeface="Bitstream Charter"/>
                <a:ea typeface="Bitstream Charter"/>
                <a:cs typeface="Bitstream Charter"/>
              </a:rPr>
              <a:t>Observed graphs and temporal dynamics</a:t>
            </a:r>
          </a:p>
        </p:txBody>
      </p:sp>
      <p:sp>
        <p:nvSpPr>
          <p:cNvPr id="2" name="">
            <a:extLst xmlns:a="http://schemas.openxmlformats.org/drawingml/2006/main">
              <a:ext uri="{FF2B5EF4-FFF2-40B4-BE49-F238E27FC236}">
                <a16:creationId xmlns:a16="http://schemas.microsoft.com/office/drawing/2014/main" id="{3CC210BF-6D44-4B26-97DB-8B7D7147E04C}"/>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6B8C4"/>
                </a:solidFill>
                <a:latin typeface="Bitstream Charter"/>
                <a:ea typeface="Bitstream Charter"/>
                <a:cs typeface="Bitstream Charter"/>
              </a:defRPr>
            </a:pPr>
            <a:r>
              <a:rPr sz="1275" b="0">
                <a:solidFill>
                  <a:srgbClr val="A6B8C4"/>
                </a:solidFill>
                <a:latin typeface="Bitstream Charter"/>
                <a:ea typeface="Bitstream Charter"/>
                <a:cs typeface="Bitstream Charter"/>
              </a:rPr>
              <a:t>Krishna Defence  /  SIH26153  /  2</a:t>
            </a:r>
          </a:p>
        </p:txBody>
      </p:sp>
      <p:graphicFrame>
        <p:nvGraphicFramePr>
          <p:cNvPr id="7" name=""/>
          <p:cNvGraphicFramePr/>
          <p:nvPr/>
        </p:nvGraphicFramePr>
        <p:xfrm>
          <a:off xmlns:a="http://schemas.openxmlformats.org/drawingml/2006/main" x="685800" y="1619250"/>
          <a:ext xmlns:a="http://schemas.openxmlformats.org/drawingml/2006/main" cx="10820400" cy="3143250"/>
        </p:xfrm>
        <a:graphic xmlns:a="http://schemas.openxmlformats.org/drawingml/2006/main">
          <a:graphicData uri="http://schemas.openxmlformats.org/drawingml/2006/table">
            <a:tbl>
              <a:tblPr/>
              <a:tblGrid>
                <a:gridCol w="3000375"/>
                <a:gridCol w="7820025"/>
              </a:tblGrid>
              <a:tr h="628650">
                <a:tc>
                  <a:txBody>
                    <a:bodyPr/>
                    <a:lstStyle/>
                    <a:p>
                      <a:r>
                        <a:rPr sz="1800" b="1">
                          <a:solidFill>
                            <a:srgbClr val="63DEC1"/>
                          </a:solidFill>
                          <a:latin typeface="Bitstream Charter"/>
                          <a:ea typeface="Bitstream Charter"/>
                          <a:cs typeface="Bitstream Charter"/>
                        </a:rPr>
                        <a:t>Component</a:t>
                      </a:r>
                    </a:p>
                  </a:txBody>
                  <a:tcPr marL="91440" marR="91440" marT="45720" marB="45720">
                    <a:solidFill>
                      <a:srgbClr val="192C36"/>
                    </a:solidFill>
                  </a:tcPr>
                </a:tc>
                <a:tc>
                  <a:txBody>
                    <a:bodyPr/>
                    <a:lstStyle/>
                    <a:p>
                      <a:r>
                        <a:rPr sz="1800" b="1">
                          <a:solidFill>
                            <a:srgbClr val="63DEC1"/>
                          </a:solidFill>
                          <a:latin typeface="Bitstream Charter"/>
                          <a:ea typeface="Bitstream Charter"/>
                          <a:cs typeface="Bitstream Charter"/>
                        </a:rPr>
                        <a:t>Current implementation</a:t>
                      </a:r>
                    </a:p>
                  </a:txBody>
                  <a:tcPr marL="91440" marR="91440" marT="45720" marB="45720">
                    <a:solidFill>
                      <a:srgbClr val="192C36"/>
                    </a:solidFill>
                  </a:tcPr>
                </a:tc>
              </a:tr>
              <a:tr h="628650">
                <a:tc>
                  <a:txBody>
                    <a:bodyPr/>
                    <a:lstStyle/>
                    <a:p>
                      <a:r>
                        <a:rPr sz="1800" b="0">
                          <a:solidFill>
                            <a:srgbClr val="E5EFF4"/>
                          </a:solidFill>
                          <a:latin typeface="Bitstream Charter"/>
                          <a:ea typeface="Bitstream Charter"/>
                          <a:cs typeface="Bitstream Charter"/>
                        </a:rPr>
                        <a:t>Traffic input</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Completed-flow CSV graphs and classic PCAP parsing</a:t>
                      </a:r>
                    </a:p>
                  </a:txBody>
                  <a:tcPr marL="91440" marR="91440" marT="45720" marB="45720">
                    <a:solidFill>
                      <a:srgbClr val="0A1117"/>
                    </a:solidFill>
                  </a:tcPr>
                </a:tc>
              </a:tr>
              <a:tr h="628650">
                <a:tc>
                  <a:txBody>
                    <a:bodyPr/>
                    <a:lstStyle/>
                    <a:p>
                      <a:r>
                        <a:rPr sz="1800" b="0">
                          <a:solidFill>
                            <a:srgbClr val="E5EFF4"/>
                          </a:solidFill>
                          <a:latin typeface="Bitstream Charter"/>
                          <a:ea typeface="Bitstream Charter"/>
                          <a:cs typeface="Bitstream Charter"/>
                        </a:rPr>
                        <a:t>Graph encoder</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Two directed GraphSAGE layers with mean aggregation</a:t>
                      </a:r>
                    </a:p>
                  </a:txBody>
                  <a:tcPr marL="91440" marR="91440" marT="45720" marB="45720">
                    <a:solidFill>
                      <a:srgbClr val="0A1117"/>
                    </a:solidFill>
                  </a:tcPr>
                </a:tc>
              </a:tr>
              <a:tr h="628650">
                <a:tc>
                  <a:txBody>
                    <a:bodyPr/>
                    <a:lstStyle/>
                    <a:p>
                      <a:r>
                        <a:rPr sz="1800" b="0">
                          <a:solidFill>
                            <a:srgbClr val="E5EFF4"/>
                          </a:solidFill>
                          <a:latin typeface="Bitstream Charter"/>
                          <a:ea typeface="Bitstream Charter"/>
                          <a:cs typeface="Bitstream Charter"/>
                        </a:rPr>
                        <a:t>Temporal model</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LSTM encoder over eight observed windows</a:t>
                      </a:r>
                    </a:p>
                  </a:txBody>
                  <a:tcPr marL="91440" marR="91440" marT="45720" marB="45720">
                    <a:solidFill>
                      <a:srgbClr val="0A1117"/>
                    </a:solidFill>
                  </a:tcPr>
                </a:tc>
              </a:tr>
              <a:tr h="628650">
                <a:tc>
                  <a:txBody>
                    <a:bodyPr/>
                    <a:lstStyle/>
                    <a:p>
                      <a:r>
                        <a:rPr sz="1800" b="0">
                          <a:solidFill>
                            <a:srgbClr val="E5EFF4"/>
                          </a:solidFill>
                          <a:latin typeface="Bitstream Charter"/>
                          <a:ea typeface="Bitstream Charter"/>
                          <a:cs typeface="Bitstream Charter"/>
                        </a:rPr>
                        <a:t>Future decoder</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Autoregressive state distribution and risk per window</a:t>
                      </a:r>
                    </a:p>
                  </a:txBody>
                  <a:tcPr marL="91440" marR="91440" marT="45720" marB="45720">
                    <a:solidFill>
                      <a:srgbClr val="0A1117"/>
                    </a:solidFill>
                  </a:tcPr>
                </a:tc>
              </a:tr>
            </a:tbl>
          </a:graphicData>
        </a:graphic>
      </p:graphicFrame>
      <p:sp>
        <p:nvSpPr>
          <p:cNvPr id="4" name="">
            <a:extLst xmlns:a="http://schemas.openxmlformats.org/drawingml/2006/main">
              <a:ext uri="{FF2B5EF4-FFF2-40B4-BE49-F238E27FC236}">
                <a16:creationId xmlns:a16="http://schemas.microsoft.com/office/drawing/2014/main" id="{817EEAD0-9167-4E0B-A732-B67BFEF08CD8}"/>
              </a:ext>
            </a:extLst>
          </p:cNvPr>
          <p:cNvSpPr>
            <a:spLocks xmlns:a="http://schemas.openxmlformats.org/drawingml/2006/main" noGrp="1"/>
          </p:cNvSpPr>
          <p:nvPr/>
        </p:nvSpPr>
        <p:spPr>
          <a:xfrm xmlns:a="http://schemas.openxmlformats.org/drawingml/2006/main">
            <a:off x="685800" y="51911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1C171"/>
                </a:solidFill>
                <a:latin typeface="Bitstream Charter"/>
                <a:ea typeface="Bitstream Charter"/>
                <a:cs typeface="Bitstream Charter"/>
              </a:defRPr>
            </a:pPr>
            <a:r>
              <a:rPr sz="1875" b="0">
                <a:solidFill>
                  <a:srgbClr val="F1C171"/>
                </a:solidFill>
                <a:latin typeface="Bitstream Charter"/>
                <a:ea typeface="Bitstream Charter"/>
                <a:cs typeface="Bitstream Charter"/>
              </a:rPr>
              <a:t>Service graphs use actual protocol / port relationships.</a:t>
            </a:r>
          </a:p>
          <a:p xmlns:a="http://schemas.openxmlformats.org/drawingml/2006/main">
            <a:pPr>
              <a:defRPr sz="1875" b="0">
                <a:solidFill>
                  <a:srgbClr val="F1C171"/>
                </a:solidFill>
                <a:latin typeface="Bitstream Charter"/>
                <a:ea typeface="Bitstream Charter"/>
                <a:cs typeface="Bitstream Charter"/>
              </a:defRPr>
            </a:pPr>
            <a:r>
              <a:rPr sz="1875" b="0">
                <a:solidFill>
                  <a:srgbClr val="F1C171"/>
                </a:solidFill>
                <a:latin typeface="Bitstream Charter"/>
                <a:ea typeface="Bitstream Charter"/>
                <a:cs typeface="Bitstream Charter"/>
              </a:rPr>
              <a:t>Host graphs require source and destination identifiers.</a:t>
            </a:r>
          </a:p>
        </p:txBody>
      </p:sp>
    </p:spTree>
    <p:extLst>
      <p:ext uri="{BB962C8B-B14F-4D97-AF65-F5344CB8AC3E}">
        <p14:creationId xmlns:p14="http://schemas.microsoft.com/office/powerpoint/2010/main" val="1664778468"/>
      </p:ext>
    </p:extLst>
  </p:cSld>
</p:sld>
</file>

<file path=ppt/slides/slide3.xml><?xml version="1.0" encoding="utf-8"?>
<p:sld xmlns:p="http://schemas.openxmlformats.org/presentationml/2006/main">
  <p:cSld>
    <p:bg>
      <p:bgPr>
        <a:solidFill xmlns:a="http://schemas.openxmlformats.org/drawingml/2006/main">
          <a:srgbClr val="0A111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12D3F2-9EB6-486E-819B-70D4397A047D}"/>
              </a:ext>
            </a:extLst>
          </p:cNvPr>
          <p:cNvSpPr>
            <a:spLocks xmlns:a="http://schemas.openxmlformats.org/drawingml/2006/main" noGrp="1"/>
          </p:cNvSpPr>
          <p:nvPr/>
        </p:nvSpPr>
        <p:spPr>
          <a:xfrm xmlns:a="http://schemas.openxmlformats.org/drawingml/2006/main">
            <a:off x="685800" y="4953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EFF4"/>
                </a:solidFill>
                <a:latin typeface="Bitstream Charter"/>
                <a:ea typeface="Bitstream Charter"/>
                <a:cs typeface="Bitstream Charter"/>
              </a:defRPr>
            </a:pPr>
            <a:r>
              <a:rPr sz="3300" b="1">
                <a:solidFill>
                  <a:srgbClr val="E5EFF4"/>
                </a:solidFill>
                <a:latin typeface="Bitstream Charter"/>
                <a:ea typeface="Bitstream Charter"/>
                <a:cs typeface="Bitstream Charter"/>
              </a:rPr>
              <a:t>Measured future-window classification</a:t>
            </a:r>
          </a:p>
        </p:txBody>
      </p:sp>
      <p:sp>
        <p:nvSpPr>
          <p:cNvPr id="2" name="">
            <a:extLst xmlns:a="http://schemas.openxmlformats.org/drawingml/2006/main">
              <a:ext uri="{FF2B5EF4-FFF2-40B4-BE49-F238E27FC236}">
                <a16:creationId xmlns:a16="http://schemas.microsoft.com/office/drawing/2014/main" id="{C6D9A9A2-B50B-4D31-9E2D-EE593EB68234}"/>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6B8C4"/>
                </a:solidFill>
                <a:latin typeface="Bitstream Charter"/>
                <a:ea typeface="Bitstream Charter"/>
                <a:cs typeface="Bitstream Charter"/>
              </a:defRPr>
            </a:pPr>
            <a:r>
              <a:rPr sz="1275" b="0">
                <a:solidFill>
                  <a:srgbClr val="A6B8C4"/>
                </a:solidFill>
                <a:latin typeface="Bitstream Charter"/>
                <a:ea typeface="Bitstream Charter"/>
                <a:cs typeface="Bitstream Charter"/>
              </a:rPr>
              <a:t>Krishna Defence  /  SIH26153  /  3</a:t>
            </a:r>
          </a:p>
        </p:txBody>
      </p:sp>
      <p:graphicFrame>
        <p:nvGraphicFramePr>
          <p:cNvPr id="8" name=""/>
          <p:cNvGraphicFramePr/>
          <p:nvPr/>
        </p:nvGraphicFramePr>
        <p:xfrm>
          <a:off xmlns:a="http://schemas.openxmlformats.org/drawingml/2006/main" x="685800" y="1666875"/>
          <a:ext xmlns:a="http://schemas.openxmlformats.org/drawingml/2006/main" cx="10820400" cy="2514600"/>
        </p:xfrm>
        <a:graphic xmlns:a="http://schemas.openxmlformats.org/drawingml/2006/main">
          <a:graphicData uri="http://schemas.openxmlformats.org/drawingml/2006/table">
            <a:tbl>
              <a:tblPr/>
              <a:tblGrid>
                <a:gridCol w="3429000"/>
                <a:gridCol w="1847850"/>
                <a:gridCol w="1847850"/>
                <a:gridCol w="1847850"/>
                <a:gridCol w="1847850"/>
              </a:tblGrid>
              <a:tr h="628650">
                <a:tc>
                  <a:txBody>
                    <a:bodyPr/>
                    <a:lstStyle/>
                    <a:p>
                      <a:r>
                        <a:rPr sz="1800" b="1">
                          <a:solidFill>
                            <a:srgbClr val="63DEC1"/>
                          </a:solidFill>
                          <a:latin typeface="Bitstream Charter"/>
                          <a:ea typeface="Bitstream Charter"/>
                          <a:cs typeface="Bitstream Charter"/>
                        </a:rPr>
                        <a:t>Model</a:t>
                      </a:r>
                    </a:p>
                  </a:txBody>
                  <a:tcPr marL="91440" marR="91440" marT="45720" marB="45720">
                    <a:solidFill>
                      <a:srgbClr val="192C36"/>
                    </a:solidFill>
                  </a:tcPr>
                </a:tc>
                <a:tc>
                  <a:txBody>
                    <a:bodyPr/>
                    <a:lstStyle/>
                    <a:p>
                      <a:r>
                        <a:rPr sz="1800" b="1">
                          <a:solidFill>
                            <a:srgbClr val="63DEC1"/>
                          </a:solidFill>
                          <a:latin typeface="Bitstream Charter"/>
                          <a:ea typeface="Bitstream Charter"/>
                          <a:cs typeface="Bitstream Charter"/>
                        </a:rPr>
                        <a:t>F1</a:t>
                      </a:r>
                    </a:p>
                  </a:txBody>
                  <a:tcPr marL="91440" marR="91440" marT="45720" marB="45720">
                    <a:solidFill>
                      <a:srgbClr val="192C36"/>
                    </a:solidFill>
                  </a:tcPr>
                </a:tc>
                <a:tc>
                  <a:txBody>
                    <a:bodyPr/>
                    <a:lstStyle/>
                    <a:p>
                      <a:r>
                        <a:rPr sz="1800" b="1">
                          <a:solidFill>
                            <a:srgbClr val="63DEC1"/>
                          </a:solidFill>
                          <a:latin typeface="Bitstream Charter"/>
                          <a:ea typeface="Bitstream Charter"/>
                          <a:cs typeface="Bitstream Charter"/>
                        </a:rPr>
                        <a:t>Precision</a:t>
                      </a:r>
                    </a:p>
                  </a:txBody>
                  <a:tcPr marL="91440" marR="91440" marT="45720" marB="45720">
                    <a:solidFill>
                      <a:srgbClr val="192C36"/>
                    </a:solidFill>
                  </a:tcPr>
                </a:tc>
                <a:tc>
                  <a:txBody>
                    <a:bodyPr/>
                    <a:lstStyle/>
                    <a:p>
                      <a:r>
                        <a:rPr sz="1800" b="1">
                          <a:solidFill>
                            <a:srgbClr val="63DEC1"/>
                          </a:solidFill>
                          <a:latin typeface="Bitstream Charter"/>
                          <a:ea typeface="Bitstream Charter"/>
                          <a:cs typeface="Bitstream Charter"/>
                        </a:rPr>
                        <a:t>Recall</a:t>
                      </a:r>
                    </a:p>
                  </a:txBody>
                  <a:tcPr marL="91440" marR="91440" marT="45720" marB="45720">
                    <a:solidFill>
                      <a:srgbClr val="192C36"/>
                    </a:solidFill>
                  </a:tcPr>
                </a:tc>
                <a:tc>
                  <a:txBody>
                    <a:bodyPr/>
                    <a:lstStyle/>
                    <a:p>
                      <a:r>
                        <a:rPr sz="1800" b="1">
                          <a:solidFill>
                            <a:srgbClr val="63DEC1"/>
                          </a:solidFill>
                          <a:latin typeface="Bitstream Charter"/>
                          <a:ea typeface="Bitstream Charter"/>
                          <a:cs typeface="Bitstream Charter"/>
                        </a:rPr>
                        <a:t>FPR</a:t>
                      </a:r>
                    </a:p>
                  </a:txBody>
                  <a:tcPr marL="91440" marR="91440" marT="45720" marB="45720">
                    <a:solidFill>
                      <a:srgbClr val="192C36"/>
                    </a:solidFill>
                  </a:tcPr>
                </a:tc>
              </a:tr>
              <a:tr h="628650">
                <a:tc>
                  <a:txBody>
                    <a:bodyPr/>
                    <a:lstStyle/>
                    <a:p>
                      <a:r>
                        <a:rPr sz="1800" b="0">
                          <a:solidFill>
                            <a:srgbClr val="E5EFF4"/>
                          </a:solidFill>
                          <a:latin typeface="Bitstream Charter"/>
                          <a:ea typeface="Bitstream Charter"/>
                          <a:cs typeface="Bitstream Charter"/>
                        </a:rPr>
                        <a:t>Logistic regression</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91.6%</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98.1%</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86.0%</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5.1%</a:t>
                      </a:r>
                    </a:p>
                  </a:txBody>
                  <a:tcPr marL="91440" marR="91440" marT="45720" marB="45720">
                    <a:solidFill>
                      <a:srgbClr val="0A1117"/>
                    </a:solidFill>
                  </a:tcPr>
                </a:tc>
              </a:tr>
              <a:tr h="628650">
                <a:tc>
                  <a:txBody>
                    <a:bodyPr/>
                    <a:lstStyle/>
                    <a:p>
                      <a:r>
                        <a:rPr sz="1800" b="0">
                          <a:solidFill>
                            <a:srgbClr val="E5EFF4"/>
                          </a:solidFill>
                          <a:latin typeface="Bitstream Charter"/>
                          <a:ea typeface="Bitstream Charter"/>
                          <a:cs typeface="Bitstream Charter"/>
                        </a:rPr>
                        <a:t>LSTM</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93.4%</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99.1%</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88.4%</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2.6%</a:t>
                      </a:r>
                    </a:p>
                  </a:txBody>
                  <a:tcPr marL="91440" marR="91440" marT="45720" marB="45720">
                    <a:solidFill>
                      <a:srgbClr val="0A1117"/>
                    </a:solidFill>
                  </a:tcPr>
                </a:tc>
              </a:tr>
              <a:tr h="628650">
                <a:tc>
                  <a:txBody>
                    <a:bodyPr/>
                    <a:lstStyle/>
                    <a:p>
                      <a:r>
                        <a:rPr sz="1800" b="0">
                          <a:solidFill>
                            <a:srgbClr val="E5EFF4"/>
                          </a:solidFill>
                          <a:latin typeface="Bitstream Charter"/>
                          <a:ea typeface="Bitstream Charter"/>
                          <a:cs typeface="Bitstream Charter"/>
                        </a:rPr>
                        <a:t>GNN + LSTM</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94.4%</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98.2%</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90.9%</a:t>
                      </a:r>
                    </a:p>
                  </a:txBody>
                  <a:tcPr marL="91440" marR="91440" marT="45720" marB="45720">
                    <a:solidFill>
                      <a:srgbClr val="0A1117"/>
                    </a:solidFill>
                  </a:tcPr>
                </a:tc>
                <a:tc>
                  <a:txBody>
                    <a:bodyPr/>
                    <a:lstStyle/>
                    <a:p>
                      <a:r>
                        <a:rPr sz="1800" b="0">
                          <a:solidFill>
                            <a:srgbClr val="E5EFF4"/>
                          </a:solidFill>
                          <a:latin typeface="Bitstream Charter"/>
                          <a:ea typeface="Bitstream Charter"/>
                          <a:cs typeface="Bitstream Charter"/>
                        </a:rPr>
                        <a:t>5.1%</a:t>
                      </a:r>
                    </a:p>
                  </a:txBody>
                  <a:tcPr marL="91440" marR="91440" marT="45720" marB="45720">
                    <a:solidFill>
                      <a:srgbClr val="0A1117"/>
                    </a:solidFill>
                  </a:tcPr>
                </a:tc>
              </a:tr>
            </a:tbl>
          </a:graphicData>
        </a:graphic>
      </p:graphicFrame>
      <p:sp>
        <p:nvSpPr>
          <p:cNvPr id="4" name="">
            <a:extLst xmlns:a="http://schemas.openxmlformats.org/drawingml/2006/main">
              <a:ext uri="{FF2B5EF4-FFF2-40B4-BE49-F238E27FC236}">
                <a16:creationId xmlns:a16="http://schemas.microsoft.com/office/drawing/2014/main" id="{723065C6-195C-4495-9C11-06165275D153}"/>
              </a:ext>
            </a:extLst>
          </p:cNvPr>
          <p:cNvSpPr>
            <a:spLocks xmlns:a="http://schemas.openxmlformats.org/drawingml/2006/main" noGrp="1"/>
          </p:cNvSpPr>
          <p:nvPr/>
        </p:nvSpPr>
        <p:spPr>
          <a:xfrm xmlns:a="http://schemas.openxmlformats.org/drawingml/2006/main">
            <a:off x="685800" y="45720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6B8C4"/>
                </a:solidFill>
                <a:latin typeface="Bitstream Charter"/>
                <a:ea typeface="Bitstream Charter"/>
                <a:cs typeface="Bitstream Charter"/>
              </a:defRPr>
            </a:pPr>
            <a:r>
              <a:rPr sz="1800" b="0">
                <a:solidFill>
                  <a:srgbClr val="A6B8C4"/>
                </a:solidFill>
                <a:latin typeface="Bitstream Charter"/>
                <a:ea typeface="Bitstream Charter"/>
                <a:cs typeface="Bitstream Charter"/>
              </a:rPr>
              <a:t>Primary seed 42. Same 40-second target and observed history.</a:t>
            </a:r>
          </a:p>
          <a:p xmlns:a="http://schemas.openxmlformats.org/drawingml/2006/main">
            <a:pPr>
              <a:defRPr sz="1800" b="0">
                <a:solidFill>
                  <a:srgbClr val="A6B8C4"/>
                </a:solidFill>
                <a:latin typeface="Bitstream Charter"/>
                <a:ea typeface="Bitstream Charter"/>
                <a:cs typeface="Bitstream Charter"/>
              </a:defRPr>
            </a:pPr>
            <a:r>
              <a:rPr sz="1800" b="0">
                <a:solidFill>
                  <a:srgbClr val="A6B8C4"/>
                </a:solidFill>
                <a:latin typeface="Bitstream Charter"/>
                <a:ea typeface="Bitstream Charter"/>
                <a:cs typeface="Bitstream Charter"/>
              </a:rPr>
              <a:t>160 test examples with 121 positives. Validation-selected thresholds.</a:t>
            </a:r>
          </a:p>
        </p:txBody>
      </p:sp>
      <p:sp>
        <p:nvSpPr>
          <p:cNvPr id="5" name="">
            <a:extLst xmlns:a="http://schemas.openxmlformats.org/drawingml/2006/main">
              <a:ext uri="{FF2B5EF4-FFF2-40B4-BE49-F238E27FC236}">
                <a16:creationId xmlns:a16="http://schemas.microsoft.com/office/drawing/2014/main" id="{7D053994-117F-4363-AEDC-3592EBF4C6F7}"/>
              </a:ext>
            </a:extLst>
          </p:cNvPr>
          <p:cNvSpPr>
            <a:spLocks xmlns:a="http://schemas.openxmlformats.org/drawingml/2006/main" noGrp="1"/>
          </p:cNvSpPr>
          <p:nvPr/>
        </p:nvSpPr>
        <p:spPr>
          <a:xfrm xmlns:a="http://schemas.openxmlformats.org/drawingml/2006/main">
            <a:off x="685800" y="54483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1C171"/>
                </a:solidFill>
                <a:latin typeface="Bitstream Charter"/>
                <a:ea typeface="Bitstream Charter"/>
                <a:cs typeface="Bitstream Charter"/>
              </a:defRPr>
            </a:pPr>
            <a:r>
              <a:rPr sz="1800" b="0">
                <a:solidFill>
                  <a:srgbClr val="F1C171"/>
                </a:solidFill>
                <a:latin typeface="Bitstream Charter"/>
                <a:ea typeface="Bitstream Charter"/>
                <a:cs typeface="Bitstream Charter"/>
              </a:rPr>
              <a:t>Clean-history test has only one future positive. All models miss it.</a:t>
            </a:r>
          </a:p>
          <a:p xmlns:a="http://schemas.openxmlformats.org/drawingml/2006/main">
            <a:pPr>
              <a:defRPr sz="1800" b="0">
                <a:solidFill>
                  <a:srgbClr val="F1C171"/>
                </a:solidFill>
                <a:latin typeface="Bitstream Charter"/>
                <a:ea typeface="Bitstream Charter"/>
                <a:cs typeface="Bitstream Charter"/>
              </a:defRPr>
            </a:pPr>
            <a:r>
              <a:rPr sz="1800" b="0">
                <a:solidFill>
                  <a:srgbClr val="F1C171"/>
                </a:solidFill>
                <a:latin typeface="Bitstream Charter"/>
                <a:ea typeface="Bitstream Charter"/>
                <a:cs typeface="Bitstream Charter"/>
              </a:rPr>
              <a:t>Pre-compromise warning remains unproven.</a:t>
            </a:r>
          </a:p>
        </p:txBody>
      </p:sp>
    </p:spTree>
    <p:extLst>
      <p:ext uri="{BB962C8B-B14F-4D97-AF65-F5344CB8AC3E}">
        <p14:creationId xmlns:p14="http://schemas.microsoft.com/office/powerpoint/2010/main" val="2118642022"/>
      </p:ext>
    </p:extLst>
  </p:cSld>
</p:sld>
</file>

<file path=ppt/slides/slide4.xml><?xml version="1.0" encoding="utf-8"?>
<p:sld xmlns:p="http://schemas.openxmlformats.org/presentationml/2006/main">
  <p:cSld>
    <p:bg>
      <p:bgPr>
        <a:solidFill xmlns:a="http://schemas.openxmlformats.org/drawingml/2006/main">
          <a:srgbClr val="0A111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CBD5AB-AF9C-4E66-8069-BC47738063C9}"/>
              </a:ext>
            </a:extLst>
          </p:cNvPr>
          <p:cNvSpPr>
            <a:spLocks xmlns:a="http://schemas.openxmlformats.org/drawingml/2006/main" noGrp="1"/>
          </p:cNvSpPr>
          <p:nvPr/>
        </p:nvSpPr>
        <p:spPr>
          <a:xfrm xmlns:a="http://schemas.openxmlformats.org/drawingml/2006/main">
            <a:off x="685800" y="4953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EFF4"/>
                </a:solidFill>
                <a:latin typeface="Bitstream Charter"/>
                <a:ea typeface="Bitstream Charter"/>
                <a:cs typeface="Bitstream Charter"/>
              </a:defRPr>
            </a:pPr>
            <a:r>
              <a:rPr sz="3300" b="1">
                <a:solidFill>
                  <a:srgbClr val="E5EFF4"/>
                </a:solidFill>
                <a:latin typeface="Bitstream Charter"/>
                <a:ea typeface="Bitstream Charter"/>
                <a:cs typeface="Bitstream Charter"/>
              </a:rPr>
              <a:t>Offline inference and scoped response</a:t>
            </a:r>
          </a:p>
        </p:txBody>
      </p:sp>
      <p:sp>
        <p:nvSpPr>
          <p:cNvPr id="2" name="">
            <a:extLst xmlns:a="http://schemas.openxmlformats.org/drawingml/2006/main">
              <a:ext uri="{FF2B5EF4-FFF2-40B4-BE49-F238E27FC236}">
                <a16:creationId xmlns:a16="http://schemas.microsoft.com/office/drawing/2014/main" id="{615492B8-4DD6-4C75-BE45-BF21311CE532}"/>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6B8C4"/>
                </a:solidFill>
                <a:latin typeface="Bitstream Charter"/>
                <a:ea typeface="Bitstream Charter"/>
                <a:cs typeface="Bitstream Charter"/>
              </a:defRPr>
            </a:pPr>
            <a:r>
              <a:rPr sz="1275" b="0">
                <a:solidFill>
                  <a:srgbClr val="A6B8C4"/>
                </a:solidFill>
                <a:latin typeface="Bitstream Charter"/>
                <a:ea typeface="Bitstream Charter"/>
                <a:cs typeface="Bitstream Charter"/>
              </a:rPr>
              <a:t>Krishna Defence  /  SIH26153  /  4</a:t>
            </a:r>
          </a:p>
        </p:txBody>
      </p:sp>
      <p:sp>
        <p:nvSpPr>
          <p:cNvPr id="3" name="">
            <a:extLst xmlns:a="http://schemas.openxmlformats.org/drawingml/2006/main">
              <a:ext uri="{FF2B5EF4-FFF2-40B4-BE49-F238E27FC236}">
                <a16:creationId xmlns:a16="http://schemas.microsoft.com/office/drawing/2014/main" id="{3005774C-BD26-4F69-A6FE-9EC2DD01EF1D}"/>
              </a:ext>
            </a:extLst>
          </p:cNvPr>
          <p:cNvSpPr>
            <a:spLocks xmlns:a="http://schemas.openxmlformats.org/drawingml/2006/main" noGrp="1"/>
          </p:cNvSpPr>
          <p:nvPr/>
        </p:nvSpPr>
        <p:spPr>
          <a:xfrm xmlns:a="http://schemas.openxmlformats.org/drawingml/2006/main">
            <a:off x="685800" y="16764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3DEC1"/>
                </a:solidFill>
                <a:latin typeface="Bitstream Charter"/>
                <a:ea typeface="Bitstream Charter"/>
                <a:cs typeface="Bitstream Charter"/>
              </a:defRPr>
            </a:pPr>
            <a:r>
              <a:rPr sz="2250" b="1">
                <a:solidFill>
                  <a:srgbClr val="63DEC1"/>
                </a:solidFill>
                <a:latin typeface="Bitstream Charter"/>
                <a:ea typeface="Bitstream Charter"/>
                <a:cs typeface="Bitstream Charter"/>
              </a:rPr>
              <a:t>The demo exposes the model’s actual output</a:t>
            </a:r>
          </a:p>
        </p:txBody>
      </p:sp>
      <p:sp>
        <p:nvSpPr>
          <p:cNvPr id="4" name="">
            <a:extLst xmlns:a="http://schemas.openxmlformats.org/drawingml/2006/main">
              <a:ext uri="{FF2B5EF4-FFF2-40B4-BE49-F238E27FC236}">
                <a16:creationId xmlns:a16="http://schemas.microsoft.com/office/drawing/2014/main" id="{DCBBCDE0-1099-4AD4-981E-B354CC64FD48}"/>
              </a:ext>
            </a:extLst>
          </p:cNvPr>
          <p:cNvSpPr>
            <a:spLocks xmlns:a="http://schemas.openxmlformats.org/drawingml/2006/main" noGrp="1"/>
          </p:cNvSpPr>
          <p:nvPr/>
        </p:nvSpPr>
        <p:spPr>
          <a:xfrm xmlns:a="http://schemas.openxmlformats.org/drawingml/2006/main">
            <a:off x="685800" y="2286000"/>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Observed graph, future risk timeline, gradient × input attribution</a:t>
            </a:r>
          </a:p>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and checkpoint provenance run locally without cloud APIs.</a:t>
            </a:r>
          </a:p>
        </p:txBody>
      </p:sp>
      <p:sp>
        <p:nvSpPr>
          <p:cNvPr id="5" name="">
            <a:extLst xmlns:a="http://schemas.openxmlformats.org/drawingml/2006/main">
              <a:ext uri="{FF2B5EF4-FFF2-40B4-BE49-F238E27FC236}">
                <a16:creationId xmlns:a16="http://schemas.microsoft.com/office/drawing/2014/main" id="{665A2142-AF19-485D-8D3F-0878941DBACE}"/>
              </a:ext>
            </a:extLst>
          </p:cNvPr>
          <p:cNvSpPr>
            <a:spLocks xmlns:a="http://schemas.openxmlformats.org/drawingml/2006/main" noGrp="1"/>
          </p:cNvSpPr>
          <p:nvPr/>
        </p:nvSpPr>
        <p:spPr>
          <a:xfrm xmlns:a="http://schemas.openxmlformats.org/drawingml/2006/main">
            <a:off x="685800" y="34766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3DEC1"/>
                </a:solidFill>
                <a:latin typeface="Bitstream Charter"/>
                <a:ea typeface="Bitstream Charter"/>
                <a:cs typeface="Bitstream Charter"/>
              </a:defRPr>
            </a:pPr>
            <a:r>
              <a:rPr sz="2250" b="1">
                <a:solidFill>
                  <a:srgbClr val="63DEC1"/>
                </a:solidFill>
                <a:latin typeface="Bitstream Charter"/>
                <a:ea typeface="Bitstream Charter"/>
                <a:cs typeface="Bitstream Charter"/>
              </a:rPr>
              <a:t>The control plane requires explicit authority</a:t>
            </a:r>
          </a:p>
        </p:txBody>
      </p:sp>
      <p:sp>
        <p:nvSpPr>
          <p:cNvPr id="6" name="">
            <a:extLst xmlns:a="http://schemas.openxmlformats.org/drawingml/2006/main">
              <a:ext uri="{FF2B5EF4-FFF2-40B4-BE49-F238E27FC236}">
                <a16:creationId xmlns:a16="http://schemas.microsoft.com/office/drawing/2014/main" id="{A21FD3DC-F375-4065-A23E-C2E41023F4D5}"/>
              </a:ext>
            </a:extLst>
          </p:cNvPr>
          <p:cNvSpPr>
            <a:spLocks xmlns:a="http://schemas.openxmlformats.org/drawingml/2006/main" noGrp="1"/>
          </p:cNvSpPr>
          <p:nvPr/>
        </p:nvSpPr>
        <p:spPr>
          <a:xfrm xmlns:a="http://schemas.openxmlformats.org/drawingml/2006/main">
            <a:off x="685800" y="40862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Separate viewer and operator tokens. Signed proxy policies</a:t>
            </a:r>
          </a:p>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expire automatically. Revoke and kill-switch controls restore traffic.</a:t>
            </a:r>
          </a:p>
        </p:txBody>
      </p:sp>
      <p:sp>
        <p:nvSpPr>
          <p:cNvPr id="7" name="">
            <a:extLst xmlns:a="http://schemas.openxmlformats.org/drawingml/2006/main">
              <a:ext uri="{FF2B5EF4-FFF2-40B4-BE49-F238E27FC236}">
                <a16:creationId xmlns:a16="http://schemas.microsoft.com/office/drawing/2014/main" id="{F02543E9-6DC2-4A05-9EA2-40ABB005E4BC}"/>
              </a:ext>
            </a:extLst>
          </p:cNvPr>
          <p:cNvSpPr>
            <a:spLocks xmlns:a="http://schemas.openxmlformats.org/drawingml/2006/main" noGrp="1"/>
          </p:cNvSpPr>
          <p:nvPr/>
        </p:nvSpPr>
        <p:spPr>
          <a:xfrm xmlns:a="http://schemas.openxmlformats.org/drawingml/2006/main">
            <a:off x="685800" y="53911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1C171"/>
                </a:solidFill>
                <a:latin typeface="Bitstream Charter"/>
                <a:ea typeface="Bitstream Charter"/>
                <a:cs typeface="Bitstream Charter"/>
              </a:defRPr>
            </a:pPr>
            <a:r>
              <a:rPr sz="1800" b="0">
                <a:solidFill>
                  <a:srgbClr val="F1C171"/>
                </a:solidFill>
                <a:latin typeface="Bitstream Charter"/>
                <a:ea typeface="Bitstream Charter"/>
                <a:cs typeface="Bitstream Charter"/>
              </a:rPr>
              <a:t>21 v3 tests pass, including numerical gradients and real proxy enforcement.</a:t>
            </a:r>
          </a:p>
        </p:txBody>
      </p:sp>
    </p:spTree>
    <p:extLst>
      <p:ext uri="{BB962C8B-B14F-4D97-AF65-F5344CB8AC3E}">
        <p14:creationId xmlns:p14="http://schemas.microsoft.com/office/powerpoint/2010/main" val="1870005475"/>
      </p:ext>
    </p:extLst>
  </p:cSld>
</p:sld>
</file>

<file path=ppt/slides/slide5.xml><?xml version="1.0" encoding="utf-8"?>
<p:sld xmlns:p="http://schemas.openxmlformats.org/presentationml/2006/main">
  <p:cSld>
    <p:bg>
      <p:bgPr>
        <a:solidFill xmlns:a="http://schemas.openxmlformats.org/drawingml/2006/main">
          <a:srgbClr val="0A111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995D64-8216-41D9-8689-8AB5DA5FC8E9}"/>
              </a:ext>
            </a:extLst>
          </p:cNvPr>
          <p:cNvSpPr>
            <a:spLocks xmlns:a="http://schemas.openxmlformats.org/drawingml/2006/main" noGrp="1"/>
          </p:cNvSpPr>
          <p:nvPr/>
        </p:nvSpPr>
        <p:spPr>
          <a:xfrm xmlns:a="http://schemas.openxmlformats.org/drawingml/2006/main">
            <a:off x="685800" y="4953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5EFF4"/>
                </a:solidFill>
                <a:latin typeface="Bitstream Charter"/>
                <a:ea typeface="Bitstream Charter"/>
                <a:cs typeface="Bitstream Charter"/>
              </a:defRPr>
            </a:pPr>
            <a:r>
              <a:rPr sz="3300" b="1">
                <a:solidFill>
                  <a:srgbClr val="E5EFF4"/>
                </a:solidFill>
                <a:latin typeface="Bitstream Charter"/>
                <a:ea typeface="Bitstream Charter"/>
                <a:cs typeface="Bitstream Charter"/>
              </a:rPr>
              <a:t>Evidence required for the next stage</a:t>
            </a:r>
          </a:p>
        </p:txBody>
      </p:sp>
      <p:sp>
        <p:nvSpPr>
          <p:cNvPr id="2" name="">
            <a:extLst xmlns:a="http://schemas.openxmlformats.org/drawingml/2006/main">
              <a:ext uri="{FF2B5EF4-FFF2-40B4-BE49-F238E27FC236}">
                <a16:creationId xmlns:a16="http://schemas.microsoft.com/office/drawing/2014/main" id="{C255C83A-F1B4-49FD-B5D5-F0C455E24EDE}"/>
              </a:ext>
            </a:extLst>
          </p:cNvPr>
          <p:cNvSpPr>
            <a:spLocks xmlns:a="http://schemas.openxmlformats.org/drawingml/2006/main" noGrp="1"/>
          </p:cNvSpPr>
          <p:nvPr/>
        </p:nvSpPr>
        <p:spPr>
          <a:xfrm xmlns:a="http://schemas.openxmlformats.org/drawingml/2006/main">
            <a:off x="685800" y="628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6B8C4"/>
                </a:solidFill>
                <a:latin typeface="Bitstream Charter"/>
                <a:ea typeface="Bitstream Charter"/>
                <a:cs typeface="Bitstream Charter"/>
              </a:defRPr>
            </a:pPr>
            <a:r>
              <a:rPr sz="1275" b="0">
                <a:solidFill>
                  <a:srgbClr val="A6B8C4"/>
                </a:solidFill>
                <a:latin typeface="Bitstream Charter"/>
                <a:ea typeface="Bitstream Charter"/>
                <a:cs typeface="Bitstream Charter"/>
              </a:rPr>
              <a:t>Krishna Defence  /  SIH26153  /  5</a:t>
            </a:r>
          </a:p>
        </p:txBody>
      </p:sp>
      <p:sp>
        <p:nvSpPr>
          <p:cNvPr id="3" name="">
            <a:extLst xmlns:a="http://schemas.openxmlformats.org/drawingml/2006/main">
              <a:ext uri="{FF2B5EF4-FFF2-40B4-BE49-F238E27FC236}">
                <a16:creationId xmlns:a16="http://schemas.microsoft.com/office/drawing/2014/main" id="{6673E46D-BD6E-4203-8EB9-0E87F9DE08F1}"/>
              </a:ext>
            </a:extLst>
          </p:cNvPr>
          <p:cNvSpPr>
            <a:spLocks xmlns:a="http://schemas.openxmlformats.org/drawingml/2006/main" noGrp="1"/>
          </p:cNvSpPr>
          <p:nvPr/>
        </p:nvSpPr>
        <p:spPr>
          <a:xfrm xmlns:a="http://schemas.openxmlformats.org/drawingml/2006/main">
            <a:off x="685800" y="17335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3DEC1"/>
                </a:solidFill>
                <a:latin typeface="Bitstream Charter"/>
                <a:ea typeface="Bitstream Charter"/>
                <a:cs typeface="Bitstream Charter"/>
              </a:defRPr>
            </a:pPr>
            <a:r>
              <a:rPr sz="2250" b="1">
                <a:solidFill>
                  <a:srgbClr val="63DEC1"/>
                </a:solidFill>
                <a:latin typeface="Bitstream Charter"/>
                <a:ea typeface="Bitstream Charter"/>
                <a:cs typeface="Bitstream Charter"/>
              </a:rPr>
              <a:t>Endpoint-preserving captures and incident timelines</a:t>
            </a:r>
          </a:p>
        </p:txBody>
      </p:sp>
      <p:sp>
        <p:nvSpPr>
          <p:cNvPr id="4" name="">
            <a:extLst xmlns:a="http://schemas.openxmlformats.org/drawingml/2006/main">
              <a:ext uri="{FF2B5EF4-FFF2-40B4-BE49-F238E27FC236}">
                <a16:creationId xmlns:a16="http://schemas.microsoft.com/office/drawing/2014/main" id="{C48ACCBF-62C7-438A-919D-69057CCA8603}"/>
              </a:ext>
            </a:extLst>
          </p:cNvPr>
          <p:cNvSpPr>
            <a:spLocks xmlns:a="http://schemas.openxmlformats.org/drawingml/2006/main" noGrp="1"/>
          </p:cNvSpPr>
          <p:nvPr/>
        </p:nvSpPr>
        <p:spPr>
          <a:xfrm xmlns:a="http://schemas.openxmlformats.org/drawingml/2006/main">
            <a:off x="685800" y="23622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Train on real host relationships and annotated attack stages.</a:t>
            </a:r>
          </a:p>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Measure first-warning lead time against actual incident onset.</a:t>
            </a:r>
          </a:p>
        </p:txBody>
      </p:sp>
      <p:sp>
        <p:nvSpPr>
          <p:cNvPr id="5" name="">
            <a:extLst xmlns:a="http://schemas.openxmlformats.org/drawingml/2006/main">
              <a:ext uri="{FF2B5EF4-FFF2-40B4-BE49-F238E27FC236}">
                <a16:creationId xmlns:a16="http://schemas.microsoft.com/office/drawing/2014/main" id="{7C264449-63E7-40E7-B3BE-A2AB98501A6D}"/>
              </a:ext>
            </a:extLst>
          </p:cNvPr>
          <p:cNvSpPr>
            <a:spLocks xmlns:a="http://schemas.openxmlformats.org/drawingml/2006/main" noGrp="1"/>
          </p:cNvSpPr>
          <p:nvPr/>
        </p:nvSpPr>
        <p:spPr>
          <a:xfrm xmlns:a="http://schemas.openxmlformats.org/drawingml/2006/main">
            <a:off x="685800" y="36195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63DEC1"/>
                </a:solidFill>
                <a:latin typeface="Bitstream Charter"/>
                <a:ea typeface="Bitstream Charter"/>
                <a:cs typeface="Bitstream Charter"/>
              </a:defRPr>
            </a:pPr>
            <a:r>
              <a:rPr sz="2250" b="1">
                <a:solidFill>
                  <a:srgbClr val="63DEC1"/>
                </a:solidFill>
                <a:latin typeface="Bitstream Charter"/>
                <a:ea typeface="Bitstream Charter"/>
                <a:cs typeface="Bitstream Charter"/>
              </a:rPr>
              <a:t>Independent evaluation and deployment review</a:t>
            </a:r>
          </a:p>
        </p:txBody>
      </p:sp>
      <p:sp>
        <p:nvSpPr>
          <p:cNvPr id="6" name="">
            <a:extLst xmlns:a="http://schemas.openxmlformats.org/drawingml/2006/main">
              <a:ext uri="{FF2B5EF4-FFF2-40B4-BE49-F238E27FC236}">
                <a16:creationId xmlns:a16="http://schemas.microsoft.com/office/drawing/2014/main" id="{495574D5-D66E-457A-B845-D4F8DDB44F7B}"/>
              </a:ext>
            </a:extLst>
          </p:cNvPr>
          <p:cNvSpPr>
            <a:spLocks xmlns:a="http://schemas.openxmlformats.org/drawingml/2006/main" noGrp="1"/>
          </p:cNvSpPr>
          <p:nvPr/>
        </p:nvSpPr>
        <p:spPr>
          <a:xfrm xmlns:a="http://schemas.openxmlformats.org/drawingml/2006/main">
            <a:off x="685800" y="4248150"/>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Hold out attack campaigns. Improve state forecasts over persistence.</a:t>
            </a:r>
          </a:p>
          <a:p xmlns:a="http://schemas.openxmlformats.org/drawingml/2006/main">
            <a:pPr>
              <a:defRPr sz="2100" b="0">
                <a:solidFill>
                  <a:srgbClr val="E5EFF4"/>
                </a:solidFill>
                <a:latin typeface="Bitstream Charter"/>
                <a:ea typeface="Bitstream Charter"/>
                <a:cs typeface="Bitstream Charter"/>
              </a:defRPr>
            </a:pPr>
            <a:r>
              <a:rPr sz="2100" b="0">
                <a:solidFill>
                  <a:srgbClr val="E5EFF4"/>
                </a:solidFill>
                <a:latin typeface="Bitstream Charter"/>
                <a:ea typeface="Bitstream Charter"/>
                <a:cs typeface="Bitstream Charter"/>
              </a:rPr>
              <a:t>Validate false alarms, calibration and rollback under realistic load.</a:t>
            </a:r>
          </a:p>
        </p:txBody>
      </p:sp>
      <p:sp>
        <p:nvSpPr>
          <p:cNvPr id="7" name="">
            <a:extLst xmlns:a="http://schemas.openxmlformats.org/drawingml/2006/main">
              <a:ext uri="{FF2B5EF4-FFF2-40B4-BE49-F238E27FC236}">
                <a16:creationId xmlns:a16="http://schemas.microsoft.com/office/drawing/2014/main" id="{68807BD2-5734-4547-994A-0843AFEBEAD8}"/>
              </a:ext>
            </a:extLst>
          </p:cNvPr>
          <p:cNvSpPr>
            <a:spLocks xmlns:a="http://schemas.openxmlformats.org/drawingml/2006/main" noGrp="1"/>
          </p:cNvSpPr>
          <p:nvPr/>
        </p:nvSpPr>
        <p:spPr>
          <a:xfrm xmlns:a="http://schemas.openxmlformats.org/drawingml/2006/main">
            <a:off x="685800" y="5514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1C171"/>
                </a:solidFill>
                <a:latin typeface="Bitstream Charter"/>
                <a:ea typeface="Bitstream Charter"/>
                <a:cs typeface="Bitstream Charter"/>
              </a:defRPr>
            </a:pPr>
            <a:r>
              <a:rPr sz="1875" b="0">
                <a:solidFill>
                  <a:srgbClr val="F1C171"/>
                </a:solidFill>
                <a:latin typeface="Bitstream Charter"/>
                <a:ea typeface="Bitstream Charter"/>
                <a:cs typeface="Bitstream Charter"/>
              </a:rPr>
              <a:t>Current status: an implemented graph forecaster with transparent limits.</a:t>
            </a:r>
          </a:p>
        </p:txBody>
      </p:sp>
    </p:spTree>
    <p:extLst>
      <p:ext uri="{BB962C8B-B14F-4D97-AF65-F5344CB8AC3E}">
        <p14:creationId xmlns:p14="http://schemas.microsoft.com/office/powerpoint/2010/main" val="1137939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2026-09-11T12:35:32.5070000Z</dcterms:created>
  <dcterms:modified xsi:type="dcterms:W3CDTF">2026-09-11T12:35:32.5070000Z</dcterms:modified>
</coreProperties>
</file>